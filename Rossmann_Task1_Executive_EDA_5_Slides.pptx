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73D"/>
                </a:solidFill>
              </a:defRPr>
            </a:pPr>
            <a:r>
              <a:t>Rossmann Sales Forecasting — Customer Purchasing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080"/>
                </a:solidFill>
              </a:defRPr>
            </a:pPr>
            <a:r>
              <a:t>Executive first-pass EDA | Decision question: is deeper investigation worth the effort?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2860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73152" cy="1051560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18488"/>
            <a:ext cx="2011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273D"/>
                </a:solidFill>
              </a:defRPr>
            </a:pPr>
            <a:r>
              <a:t>1.017M</a:t>
            </a:r>
          </a:p>
          <a:p>
            <a:pPr>
              <a:defRPr sz="1050">
                <a:solidFill>
                  <a:srgbClr val="647080"/>
                </a:solidFill>
              </a:defRPr>
            </a:pPr>
            <a:r>
              <a:t>training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508760"/>
            <a:ext cx="22860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63240" y="1508760"/>
            <a:ext cx="73152" cy="1051560"/>
          </a:xfrm>
          <a:prstGeom prst="rect">
            <a:avLst/>
          </a:prstGeom>
          <a:solidFill>
            <a:srgbClr val="30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18488"/>
            <a:ext cx="2011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273D"/>
                </a:solidFill>
              </a:defRPr>
            </a:pPr>
            <a:r>
              <a:t>41,088</a:t>
            </a:r>
          </a:p>
          <a:p>
            <a:pPr>
              <a:defRPr sz="1050">
                <a:solidFill>
                  <a:srgbClr val="647080"/>
                </a:solidFill>
              </a:defRPr>
            </a:pPr>
            <a:r>
              <a:t>test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1508760"/>
            <a:ext cx="22860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32120" y="1508760"/>
            <a:ext cx="73152" cy="1051560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618488"/>
            <a:ext cx="2011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273D"/>
                </a:solidFill>
              </a:defRPr>
            </a:pPr>
            <a:r>
              <a:t>1,115</a:t>
            </a:r>
          </a:p>
          <a:p>
            <a:pPr>
              <a:defRPr sz="1050">
                <a:solidFill>
                  <a:srgbClr val="647080"/>
                </a:solidFill>
              </a:defRPr>
            </a:pPr>
            <a:r>
              <a:t>stores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08760"/>
            <a:ext cx="22860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508760"/>
            <a:ext cx="73152" cy="1051560"/>
          </a:xfrm>
          <a:prstGeom prst="rect">
            <a:avLst/>
          </a:prstGeom>
          <a:solidFill>
            <a:srgbClr val="30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618488"/>
            <a:ext cx="2011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273D"/>
                </a:solidFill>
              </a:defRPr>
            </a:pPr>
            <a:r>
              <a:t>0</a:t>
            </a:r>
          </a:p>
          <a:p>
            <a:pPr>
              <a:defRPr sz="1050">
                <a:solidFill>
                  <a:srgbClr val="647080"/>
                </a:solidFill>
              </a:defRPr>
            </a:pPr>
            <a:r>
              <a:t>remaining nulls after 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8803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C273D"/>
                </a:solidFill>
              </a:defRPr>
            </a:pPr>
            <a:r>
              <a:t>Promotions, holidays, seasonality, store format and competition all show meaningful relationships with purchasing behaviour.</a:t>
            </a:r>
          </a:p>
          <a:p>
            <a:pPr>
              <a:spcAft>
                <a:spcPts val="800"/>
              </a:spcAft>
              <a:defRPr sz="1700">
                <a:solidFill>
                  <a:srgbClr val="1C273D"/>
                </a:solidFill>
              </a:defRPr>
            </a:pPr>
            <a:r>
              <a:t>Sales and Customers are strongly positively correlated (~0.82–0.85), making customer traffic a key business signal.</a:t>
            </a:r>
          </a:p>
          <a:p>
            <a:pPr>
              <a:spcAft>
                <a:spcPts val="800"/>
              </a:spcAft>
              <a:defRPr sz="1700">
                <a:solidFill>
                  <a:srgbClr val="1C273D"/>
                </a:solidFill>
              </a:defRPr>
            </a:pPr>
            <a:r>
              <a:t>Promo response varies materially by store, suggesting targeted promotions can outperform blanket promotion strategies.</a:t>
            </a:r>
          </a:p>
          <a:p>
            <a:pPr>
              <a:spcAft>
                <a:spcPts val="800"/>
              </a:spcAft>
              <a:defRPr sz="1700">
                <a:solidFill>
                  <a:srgbClr val="1C273D"/>
                </a:solidFill>
              </a:defRPr>
            </a:pPr>
            <a:r>
              <a:t>Recommendation: continue investigation — especially store-level promo uplift, holiday effects and locality/competition interactions.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0"/>
                </a:solidFill>
              </a:defRPr>
            </a:pPr>
            <a:r>
              <a:t>Rossmann Store Sales | Task 1 — Customer Purchasing Behaviour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73D"/>
                </a:solidFill>
              </a:defRPr>
            </a:pPr>
            <a:r>
              <a:t>Data quality, promotions &amp; holiday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080"/>
                </a:solidFill>
              </a:defRPr>
            </a:pPr>
            <a:r>
              <a:t>The first-pass EDA shows stable train/test promo exposure but strong calendar effects.</a:t>
            </a:r>
          </a:p>
        </p:txBody>
      </p:sp>
      <p:pic>
        <p:nvPicPr>
          <p:cNvPr id="5" name="Picture 4" descr="1_EDA_customer_purchasing_behavior_cell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06" y="1325880"/>
            <a:ext cx="5214226" cy="2148840"/>
          </a:xfrm>
          <a:prstGeom prst="rect">
            <a:avLst/>
          </a:prstGeom>
        </p:spPr>
      </p:pic>
      <p:pic>
        <p:nvPicPr>
          <p:cNvPr id="6" name="Picture 5" descr="1_EDA_customer_purchasing_behavior_cell1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769" y="1325880"/>
            <a:ext cx="3471541" cy="2148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3703320"/>
            <a:ext cx="233172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703320"/>
            <a:ext cx="73152" cy="960120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13048"/>
            <a:ext cx="2057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273D"/>
                </a:solidFill>
              </a:defRPr>
            </a:pPr>
            <a:r>
              <a:t>38.15%</a:t>
            </a:r>
          </a:p>
          <a:p>
            <a:pPr>
              <a:defRPr sz="1050">
                <a:solidFill>
                  <a:srgbClr val="647080"/>
                </a:solidFill>
              </a:defRPr>
            </a:pPr>
            <a:r>
              <a:t>train promo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3703320"/>
            <a:ext cx="233172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80" y="3703320"/>
            <a:ext cx="73152" cy="960120"/>
          </a:xfrm>
          <a:prstGeom prst="rect">
            <a:avLst/>
          </a:prstGeom>
          <a:solidFill>
            <a:srgbClr val="30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3813048"/>
            <a:ext cx="2057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273D"/>
                </a:solidFill>
              </a:defRPr>
            </a:pPr>
            <a:r>
              <a:t>39.58%</a:t>
            </a:r>
          </a:p>
          <a:p>
            <a:pPr>
              <a:defRPr sz="1050">
                <a:solidFill>
                  <a:srgbClr val="647080"/>
                </a:solidFill>
              </a:defRPr>
            </a:pPr>
            <a:r>
              <a:t>test promo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3703320"/>
            <a:ext cx="233172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3703320"/>
            <a:ext cx="73152" cy="960120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3813048"/>
            <a:ext cx="2057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273D"/>
                </a:solidFill>
              </a:defRPr>
            </a:pPr>
            <a:r>
              <a:t>7,818.8</a:t>
            </a:r>
          </a:p>
          <a:p>
            <a:pPr>
              <a:defRPr sz="1050">
                <a:solidFill>
                  <a:srgbClr val="647080"/>
                </a:solidFill>
              </a:defRPr>
            </a:pPr>
            <a:r>
              <a:t>avg sales: 3 days before holiday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703320"/>
            <a:ext cx="233172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3703320"/>
            <a:ext cx="73152" cy="96012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3813048"/>
            <a:ext cx="2057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273D"/>
                </a:solidFill>
              </a:defRPr>
            </a:pPr>
            <a:r>
              <a:t>7,050.0</a:t>
            </a:r>
          </a:p>
          <a:p>
            <a:pPr>
              <a:defRPr sz="1050">
                <a:solidFill>
                  <a:srgbClr val="647080"/>
                </a:solidFill>
              </a:defRPr>
            </a:pPr>
            <a:r>
              <a:t>avg sales: 3 days after holiday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92040"/>
            <a:ext cx="10607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73D"/>
                </a:solidFill>
              </a:defRPr>
            </a:pPr>
            <a:r>
              <a:t>Promo split is very similar between train and test → no meaningful sampling bias.</a:t>
            </a:r>
          </a:p>
          <a:p>
            <a:pPr>
              <a:spcAft>
                <a:spcPts val="800"/>
              </a:spcAft>
              <a:defRPr sz="1500">
                <a:solidFill>
                  <a:srgbClr val="1C273D"/>
                </a:solidFill>
              </a:defRPr>
            </a:pPr>
            <a:r>
              <a:t>Holiday demand shows a pre-holiday stock-up effect; Christmas and Easter produce the strongest seasonal lift.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0"/>
                </a:solidFill>
              </a:defRPr>
            </a:pPr>
            <a:r>
              <a:t>Rossmann Store Sales | Task 1 — Customer Purchasing Behaviour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73D"/>
                </a:solidFill>
              </a:defRPr>
            </a:pPr>
            <a:r>
              <a:t>Customers and promotions are commercially actionable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080"/>
                </a:solidFill>
              </a:defRPr>
            </a:pPr>
            <a:r>
              <a:t>Foot traffic explains much of sales variation, while promo response differs by store.</a:t>
            </a:r>
          </a:p>
        </p:txBody>
      </p:sp>
      <p:pic>
        <p:nvPicPr>
          <p:cNvPr id="5" name="Picture 4" descr="1_EDA_customer_purchasing_behavior_cell2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33403"/>
            <a:ext cx="4754880" cy="3551112"/>
          </a:xfrm>
          <a:prstGeom prst="rect">
            <a:avLst/>
          </a:prstGeom>
        </p:spPr>
      </p:pic>
      <p:pic>
        <p:nvPicPr>
          <p:cNvPr id="6" name="Picture 5" descr="1_EDA_customer_purchasing_behavior_cell2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357199"/>
            <a:ext cx="6172200" cy="1903321"/>
          </a:xfrm>
          <a:prstGeom prst="rect">
            <a:avLst/>
          </a:prstGeom>
        </p:spPr>
      </p:pic>
      <p:pic>
        <p:nvPicPr>
          <p:cNvPr id="7" name="Picture 6" descr="1_EDA_customer_purchasing_behavior_cell2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765" y="3429000"/>
            <a:ext cx="3968029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07492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1C273D"/>
                </a:solidFill>
              </a:defRPr>
            </a:pPr>
            <a:r>
              <a:t>Sales ↔ Customers correlation is ~0.82–0.85: more footfall generally means more revenue.</a:t>
            </a:r>
          </a:p>
          <a:p>
            <a:pPr>
              <a:spcAft>
                <a:spcPts val="800"/>
              </a:spcAft>
              <a:defRPr sz="1450">
                <a:solidFill>
                  <a:srgbClr val="1C273D"/>
                </a:solidFill>
              </a:defRPr>
            </a:pPr>
            <a:r>
              <a:t>Promo days lift both average sales and customer counts, with slightly higher spend/customer; store-level uplift has a long tail.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0"/>
                </a:solidFill>
              </a:defRPr>
            </a:pPr>
            <a:r>
              <a:t>Rossmann Store Sales | Task 1 — Customer Purchasing Behaviour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73D"/>
                </a:solidFill>
              </a:defRPr>
            </a:pPr>
            <a:r>
              <a:t>Store format and competition: context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080"/>
                </a:solidFill>
              </a:defRPr>
            </a:pPr>
            <a:r>
              <a:t>Raw competitor distance is not enough; locality and store characteristics should be modelled together.</a:t>
            </a:r>
          </a:p>
        </p:txBody>
      </p:sp>
      <p:pic>
        <p:nvPicPr>
          <p:cNvPr id="5" name="Picture 4" descr="1_EDA_customer_purchasing_behavior_cell3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84" y="1325880"/>
            <a:ext cx="3685591" cy="2286000"/>
          </a:xfrm>
          <a:prstGeom prst="rect">
            <a:avLst/>
          </a:prstGeom>
        </p:spPr>
      </p:pic>
      <p:pic>
        <p:nvPicPr>
          <p:cNvPr id="6" name="Picture 5" descr="1_EDA_customer_purchasing_behavior_cell3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48280"/>
            <a:ext cx="3703320" cy="2041199"/>
          </a:xfrm>
          <a:prstGeom prst="rect">
            <a:avLst/>
          </a:prstGeom>
        </p:spPr>
      </p:pic>
      <p:pic>
        <p:nvPicPr>
          <p:cNvPr id="7" name="Picture 6" descr="1_EDA_customer_purchasing_behavior_cell37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498679"/>
            <a:ext cx="3520440" cy="194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8862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73D"/>
                </a:solidFill>
              </a:defRPr>
            </a:pPr>
            <a:r>
              <a:t>Assortment: extra/extended formats outperform basic on average; the 'extra' group is very small, so treat this as directional rather than causal.</a:t>
            </a:r>
          </a:p>
          <a:p>
            <a:pPr>
              <a:spcAft>
                <a:spcPts val="800"/>
              </a:spcAft>
              <a:defRPr sz="1500">
                <a:solidFill>
                  <a:srgbClr val="1C273D"/>
                </a:solidFill>
              </a:defRPr>
            </a:pPr>
            <a:r>
              <a:t>Competition distance has a weak/counterintuitive relationship with sales — close competitors can coexist with high sales, likely reflecting high-footfall locations.</a:t>
            </a:r>
          </a:p>
          <a:p>
            <a:pPr>
              <a:spcAft>
                <a:spcPts val="800"/>
              </a:spcAft>
              <a:defRPr sz="1500">
                <a:solidFill>
                  <a:srgbClr val="1C273D"/>
                </a:solidFill>
              </a:defRPr>
            </a:pPr>
            <a:r>
              <a:t>New competitor openings show no strong universal sales decline; impact is store-specific.</a:t>
            </a:r>
          </a:p>
          <a:p>
            <a:pPr>
              <a:spcAft>
                <a:spcPts val="800"/>
              </a:spcAft>
              <a:defRPr sz="1500">
                <a:solidFill>
                  <a:srgbClr val="1C273D"/>
                </a:solidFill>
              </a:defRPr>
            </a:pPr>
            <a:r>
              <a:t>Modeling implication: combine competition with StoreType, Assortment and locality proxies rather than using distance alone.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0"/>
                </a:solidFill>
              </a:defRPr>
            </a:pPr>
            <a:r>
              <a:t>Rossmann Store Sales | Task 1 — Customer Purchasing Behaviour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73D"/>
                </a:solidFill>
              </a:defRPr>
            </a:pPr>
            <a:r>
              <a:t>Decision, next steps &amp; delivery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080"/>
                </a:solidFill>
              </a:defRPr>
            </a:pPr>
            <a:r>
              <a:t>The EDA supports deeper investigation and directly informs the forecasting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73D"/>
                </a:solidFill>
              </a:defRPr>
            </a:pPr>
            <a:r>
              <a:t>GO: further investigation is useful.</a:t>
            </a:r>
          </a:p>
          <a:p>
            <a:pPr>
              <a:spcAft>
                <a:spcPts val="800"/>
              </a:spcAft>
              <a:defRPr sz="1600">
                <a:solidFill>
                  <a:srgbClr val="1C273D"/>
                </a:solidFill>
              </a:defRPr>
            </a:pPr>
            <a:r>
              <a:t>Prioritize targeted promotions using store-level uplift.</a:t>
            </a:r>
          </a:p>
          <a:p>
            <a:pPr>
              <a:spcAft>
                <a:spcPts val="800"/>
              </a:spcAft>
              <a:defRPr sz="1600">
                <a:solidFill>
                  <a:srgbClr val="1C273D"/>
                </a:solidFill>
              </a:defRPr>
            </a:pPr>
            <a:r>
              <a:t>Engineer holiday proximity, seasonality, weekday-open behaviour and store-level history.</a:t>
            </a:r>
          </a:p>
          <a:p>
            <a:pPr>
              <a:spcAft>
                <a:spcPts val="800"/>
              </a:spcAft>
              <a:defRPr sz="1600">
                <a:solidFill>
                  <a:srgbClr val="1C273D"/>
                </a:solidFill>
              </a:defRPr>
            </a:pPr>
            <a:r>
              <a:t>Treat CompetitionDistance as contextual, not causal on its 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53035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C273D"/>
                </a:solidFill>
              </a:defRPr>
            </a:pPr>
            <a:r>
              <a:t>v1 Random Forest  |  RMSPE 0.343  |  MAE 1,523</a:t>
            </a:r>
          </a:p>
          <a:p>
            <a:pPr>
              <a:spcAft>
                <a:spcPts val="600"/>
              </a:spcAft>
              <a:defRPr sz="1250">
                <a:solidFill>
                  <a:srgbClr val="1C273D"/>
                </a:solidFill>
              </a:defRPr>
            </a:pPr>
            <a:r>
              <a:t>v2 LightGBM + target encoding  |  RMSPE 0.131  |  MAE 614</a:t>
            </a:r>
          </a:p>
          <a:p>
            <a:pPr>
              <a:spcAft>
                <a:spcPts val="600"/>
              </a:spcAft>
              <a:defRPr sz="1250">
                <a:solidFill>
                  <a:srgbClr val="1C273D"/>
                </a:solidFill>
              </a:defRPr>
            </a:pPr>
            <a:r>
              <a:t>LSTM (aggregate)  |  RMSPE 0.104  |  MAE 577</a:t>
            </a:r>
          </a:p>
        </p:txBody>
      </p:sp>
      <p:pic>
        <p:nvPicPr>
          <p:cNvPr id="7" name="Picture 6" descr="rossm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05627"/>
            <a:ext cx="5440680" cy="23095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577840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80"/>
                </a:solidFill>
              </a:defRPr>
            </a:pPr>
            <a:r>
              <a:t>Deployed Streamlit dashboard — current production bundle: LightGBM v2.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375F91"/>
                </a:solidFill>
              </a:defRPr>
            </a:pPr>
            <a:r>
              <a:t>GitHub: https://github.com/shakya362/rossmann_store_sales    |    App: https://rossmann-store-sales-forecast.streamlit.app/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0"/>
                </a:solidFill>
              </a:defRPr>
            </a:pPr>
            <a:r>
              <a:t>Submission note: add a real DVC-store screenshot and, if required by the rubric, an MLflow/model-version screenshot. Do not present placeholders as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