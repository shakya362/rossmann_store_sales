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32320" y="0"/>
            <a:ext cx="5074920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961120" y="3886200"/>
            <a:ext cx="3246120" cy="2971800"/>
          </a:xfrm>
          <a:prstGeom prst="rect">
            <a:avLst/>
          </a:prstGeom>
          <a:solidFill>
            <a:srgbClr val="2A8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56692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9C2D9"/>
                </a:solidFill>
                <a:latin typeface="Calibri"/>
              </a:rPr>
              <a:t>ML PROJECT  · 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6400800" cy="1417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Cambria"/>
              </a:rPr>
              <a:t>Rossmann Store
Sales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697480"/>
            <a:ext cx="566928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CADCFC"/>
                </a:solidFill>
                <a:latin typeface="Calibri"/>
              </a:rPr>
              <a:t>Overall Project Analysis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3182112"/>
            <a:ext cx="603504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FB3C8"/>
                </a:solidFill>
                <a:latin typeface="Calibri"/>
              </a:rPr>
              <a:t>EDA  ·  Machine Learning  ·  Deep Learning  · 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230368"/>
            <a:ext cx="411480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Prepared by: Ashish Kumar
NextHikes IT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051560"/>
            <a:ext cx="182880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mbria"/>
              </a:rPr>
              <a:t>1.017M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572768"/>
            <a:ext cx="18288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C8"/>
                </a:solidFill>
                <a:latin typeface="Calibri"/>
              </a:rPr>
              <a:t>TRAINING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1051560"/>
            <a:ext cx="182880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mbria"/>
              </a:rPr>
              <a:t>1,115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1572768"/>
            <a:ext cx="18288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C8"/>
                </a:solidFill>
                <a:latin typeface="Calibri"/>
              </a:rPr>
              <a:t>STORES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487168"/>
            <a:ext cx="182880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mbria"/>
              </a:rPr>
              <a:t>0.104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008376"/>
            <a:ext cx="18288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C8"/>
                </a:solidFill>
                <a:latin typeface="Calibri"/>
              </a:rPr>
              <a:t>LSTM RMSPE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2487168"/>
            <a:ext cx="182880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mbria"/>
              </a:rPr>
              <a:t>0.131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3008376"/>
            <a:ext cx="18288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C8"/>
                </a:solidFill>
                <a:latin typeface="Calibri"/>
              </a:rPr>
              <a:t>LIGHTGBM RMSPE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43891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932688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E2430"/>
                </a:solidFill>
                <a:latin typeface="Cambria"/>
              </a:rPr>
              <a:t>One Project, Three Modeling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38328"/>
            <a:ext cx="3200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76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98755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B76"/>
                </a:solidFill>
                <a:latin typeface="Calibri"/>
              </a:rPr>
              <a:t>The project moves from behavioural evidence to deployable store-level forecasting, with deep learning used as a dedicated time-series experiment.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40280"/>
            <a:ext cx="2606040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58952" y="2404872"/>
            <a:ext cx="438912" cy="43891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461976"/>
            <a:ext cx="43891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2014" y="2455164"/>
            <a:ext cx="112691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500" b="1" i="0" dirty="0">
                <a:solidFill>
                  <a:srgbClr val="1E2430"/>
                </a:solidFill>
                <a:latin typeface="Cambria"/>
              </a:rPr>
              <a:t>  </a:t>
            </a:r>
            <a:r>
              <a:rPr sz="1500" b="1" i="0" dirty="0">
                <a:solidFill>
                  <a:srgbClr val="1E2430"/>
                </a:solidFill>
                <a:latin typeface="Cambria"/>
              </a:rP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2456" y="2852928"/>
            <a:ext cx="1586016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5B6B76"/>
                </a:solidFill>
                <a:latin typeface="Calibri"/>
              </a:rPr>
              <a:t>EDA identifies promotion, customer, </a:t>
            </a:r>
            <a:endParaRPr lang="en-US" sz="1050" b="0" i="0" dirty="0">
              <a:solidFill>
                <a:srgbClr val="5B6B76"/>
              </a:solidFill>
              <a:latin typeface="Calibri"/>
            </a:endParaRPr>
          </a:p>
          <a:p>
            <a:pPr algn="l"/>
            <a:r>
              <a:rPr sz="1050" b="0" i="0" dirty="0">
                <a:solidFill>
                  <a:srgbClr val="5B6B76"/>
                </a:solidFill>
                <a:latin typeface="Calibri"/>
              </a:rPr>
              <a:t>calendar, store and competition effects.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240280"/>
            <a:ext cx="2606040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02152" y="2404872"/>
            <a:ext cx="438912" cy="43891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88746" y="2427732"/>
            <a:ext cx="65723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2</a:t>
            </a:r>
            <a:endParaRPr lang="en-US" sz="1000" b="1" i="0" dirty="0">
              <a:solidFill>
                <a:srgbClr val="FFFFFF"/>
              </a:solidFill>
              <a:latin typeface="Calibri"/>
            </a:endParaRPr>
          </a:p>
          <a:p>
            <a:pPr algn="ctr"/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87368" y="2377440"/>
            <a:ext cx="169164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E2430"/>
                </a:solidFill>
                <a:latin typeface="Cambria"/>
              </a:rPr>
              <a:t>Predict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41064" y="2784348"/>
            <a:ext cx="1424038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dirty="0">
                <a:solidFill>
                  <a:srgbClr val="5B6B76"/>
                </a:solidFill>
                <a:latin typeface="Calibri"/>
              </a:rPr>
              <a:t>Random Forest → </a:t>
            </a:r>
            <a:r>
              <a:rPr sz="1050" b="0" i="0" dirty="0" err="1">
                <a:solidFill>
                  <a:srgbClr val="5B6B76"/>
                </a:solidFill>
                <a:latin typeface="Calibri"/>
              </a:rPr>
              <a:t>LightGBM</a:t>
            </a:r>
            <a:r>
              <a:rPr sz="1050" b="0" i="0" dirty="0">
                <a:solidFill>
                  <a:srgbClr val="5B6B76"/>
                </a:solidFill>
                <a:latin typeface="Calibri"/>
              </a:rPr>
              <a:t> improves store-day forecast accuracy.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2240280"/>
            <a:ext cx="2606040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245352" y="2404872"/>
            <a:ext cx="438912" cy="43891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45352" y="2427732"/>
            <a:ext cx="43891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2377440"/>
            <a:ext cx="169164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430"/>
                </a:solidFill>
                <a:latin typeface="Cambria"/>
              </a:rPr>
              <a:t>Learn Sequences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816352"/>
            <a:ext cx="1563624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5B6B76"/>
                </a:solidFill>
                <a:latin typeface="Calibri"/>
              </a:rPr>
              <a:t>A 2-layer LSTM captures weekly structure from a 14-day window.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2240280"/>
            <a:ext cx="2468880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988552" y="2404872"/>
            <a:ext cx="438912" cy="43891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88552" y="2427732"/>
            <a:ext cx="43891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3768" y="2377440"/>
            <a:ext cx="155448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E2430"/>
                </a:solidFill>
                <a:latin typeface="Cambria"/>
              </a:rPr>
              <a:t>Serve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7464" y="2816352"/>
            <a:ext cx="1700784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 err="1">
                <a:solidFill>
                  <a:srgbClr val="5B6B76"/>
                </a:solidFill>
                <a:latin typeface="Calibri"/>
              </a:rPr>
              <a:t>Streamlit</a:t>
            </a:r>
            <a:r>
              <a:rPr sz="1050" b="0" i="0" dirty="0">
                <a:solidFill>
                  <a:srgbClr val="5B6B76"/>
                </a:solidFill>
                <a:latin typeface="Calibri"/>
              </a:rPr>
              <a:t> exposes predictions, metrics, plots and CSV download.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773168"/>
            <a:ext cx="12801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alibri"/>
              </a:rPr>
              <a:t>KEY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074920"/>
            <a:ext cx="115976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 dirty="0">
                <a:solidFill>
                  <a:srgbClr val="1E2430"/>
                </a:solidFill>
                <a:latin typeface="Cambria"/>
              </a:rPr>
              <a:t>LSTM = 0.1041 RMSPE on aggregate six-week validation; </a:t>
            </a:r>
            <a:r>
              <a:rPr sz="1900" b="1" i="0" dirty="0" err="1">
                <a:solidFill>
                  <a:srgbClr val="1E2430"/>
                </a:solidFill>
                <a:latin typeface="Cambria"/>
              </a:rPr>
              <a:t>LightGBM</a:t>
            </a:r>
            <a:r>
              <a:rPr sz="1900" b="1" i="0" dirty="0">
                <a:solidFill>
                  <a:srgbClr val="1E2430"/>
                </a:solidFill>
                <a:latin typeface="Cambria"/>
              </a:rPr>
              <a:t> = 0.1313 RMSPE for per-store daily forecasting.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10528"/>
            <a:ext cx="3200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B6B7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43891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932688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E2430"/>
                </a:solidFill>
                <a:latin typeface="Cambria"/>
              </a:rPr>
              <a:t>What Are We Forecasting?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38328"/>
            <a:ext cx="3200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76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44752"/>
            <a:ext cx="115976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5B6B76"/>
                </a:solidFill>
                <a:latin typeface="Calibri"/>
              </a:rPr>
              <a:t>Rossmann needs reliable daily sales forecasts across a large multi-store network. The challenge combines demand seasonality with store-specific </a:t>
            </a:r>
            <a:r>
              <a:rPr sz="1300" b="0" i="0" dirty="0" err="1">
                <a:solidFill>
                  <a:srgbClr val="5B6B76"/>
                </a:solidFill>
                <a:latin typeface="Calibri"/>
              </a:rPr>
              <a:t>behaviour</a:t>
            </a:r>
            <a:r>
              <a:rPr sz="1300" b="0" i="0" dirty="0">
                <a:solidFill>
                  <a:srgbClr val="5B6B76"/>
                </a:solidFill>
                <a:latin typeface="Calibri"/>
              </a:rPr>
              <a:t> and operational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498348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4672" y="2496312"/>
            <a:ext cx="438912" cy="43891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519172"/>
            <a:ext cx="43891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468880"/>
            <a:ext cx="406908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430"/>
                </a:solidFill>
                <a:latin typeface="Cambria"/>
              </a:rPr>
              <a:t>Forecast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907792"/>
            <a:ext cx="4069080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B6B76"/>
                </a:solidFill>
                <a:latin typeface="Calibri"/>
              </a:rPr>
              <a:t>Estimate daily sales for each store and 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2331720"/>
            <a:ext cx="498348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45352" y="2496312"/>
            <a:ext cx="438912" cy="43891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45352" y="2519172"/>
            <a:ext cx="43891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2468880"/>
            <a:ext cx="406908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430"/>
                </a:solidFill>
                <a:latin typeface="Cambria"/>
              </a:rPr>
              <a:t>Explain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2907792"/>
            <a:ext cx="4069080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B6B76"/>
                </a:solidFill>
                <a:latin typeface="Calibri"/>
              </a:rPr>
              <a:t>Identify the drivers behind sales and customer traffic.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14800"/>
            <a:ext cx="498348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04672" y="4279392"/>
            <a:ext cx="438912" cy="43891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4302252"/>
            <a:ext cx="43891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4251960"/>
            <a:ext cx="406908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430"/>
                </a:solidFill>
                <a:latin typeface="Cambria"/>
              </a:rPr>
              <a:t>Compare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690872"/>
            <a:ext cx="4069080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B6B76"/>
                </a:solidFill>
                <a:latin typeface="Calibri"/>
              </a:rPr>
              <a:t>Benchmark classical time-series, ML and deep-learning approaches.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4114800"/>
            <a:ext cx="498348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245352" y="4279392"/>
            <a:ext cx="438912" cy="43891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45352" y="4302252"/>
            <a:ext cx="43891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251960"/>
            <a:ext cx="406908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430"/>
                </a:solidFill>
                <a:latin typeface="Cambria"/>
              </a:rPr>
              <a:t>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8" y="4690872"/>
            <a:ext cx="4069080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B6B76"/>
                </a:solidFill>
                <a:latin typeface="Calibri"/>
              </a:rPr>
              <a:t>Turn the strongest operational model into a manager-facing application.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897880"/>
            <a:ext cx="10058400" cy="530352"/>
          </a:xfrm>
          <a:prstGeom prst="roundRect">
            <a:avLst/>
          </a:prstGeom>
          <a:solidFill>
            <a:srgbClr val="EAF4F8"/>
          </a:solidFill>
          <a:ln w="8890">
            <a:solidFill>
              <a:srgbClr val="B7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6016752"/>
            <a:ext cx="97840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Primary evaluation metric: RMSPE  ·  Supporting metrics: MAE and R²  ·  Validation: final six weeks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10528"/>
            <a:ext cx="3200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B6B7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43891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DATA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932688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E2430"/>
                </a:solidFill>
                <a:latin typeface="Cambria"/>
              </a:rPr>
              <a:t>From Raw Transactions to a Modeling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38328"/>
            <a:ext cx="3200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76"/>
                </a:solidFill>
                <a:latin typeface="Calibri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233172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645920"/>
            <a:ext cx="2112264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065A82"/>
                </a:solidFill>
                <a:latin typeface="Cambria"/>
              </a:rPr>
              <a:t>1.017M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103120"/>
            <a:ext cx="2112264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B6B76"/>
                </a:solidFill>
                <a:latin typeface="Calibri"/>
              </a:rPr>
              <a:t>TRAINING 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27248" y="1508760"/>
            <a:ext cx="233172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36976" y="1645920"/>
            <a:ext cx="2112264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065A82"/>
                </a:solidFill>
                <a:latin typeface="Cambria"/>
              </a:rPr>
              <a:t>41,088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6976" y="2103120"/>
            <a:ext cx="2112264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B6B76"/>
                </a:solidFill>
                <a:latin typeface="Calibri"/>
              </a:rPr>
              <a:t>TEST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0136" y="1508760"/>
            <a:ext cx="233172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9864" y="1645920"/>
            <a:ext cx="2112264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065A82"/>
                </a:solidFill>
                <a:latin typeface="Cambria"/>
              </a:rPr>
              <a:t>1,115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9864" y="2103120"/>
            <a:ext cx="2112264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B6B76"/>
                </a:solidFill>
                <a:latin typeface="Calibri"/>
              </a:rPr>
              <a:t>STORES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1508760"/>
            <a:ext cx="233172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645920"/>
            <a:ext cx="2112264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065A82"/>
                </a:solidFill>
                <a:latin typeface="Cambria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103120"/>
            <a:ext cx="2112264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B6B76"/>
                </a:solidFill>
                <a:latin typeface="Calibri"/>
              </a:rPr>
              <a:t>MERGED COLUMNS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71800"/>
            <a:ext cx="4892040" cy="2560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218688"/>
            <a:ext cx="18288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DATA 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611880"/>
            <a:ext cx="4343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B6B76"/>
                </a:solidFill>
                <a:latin typeface="Calibri"/>
              </a:defRPr>
            </a:pPr>
            <a:r>
              <a:t>• Rossmann store-level daily sales history</a:t>
            </a:r>
          </a:p>
          <a:p>
            <a:pPr>
              <a:spcAft>
                <a:spcPts val="600"/>
              </a:spcAft>
              <a:defRPr sz="1200">
                <a:solidFill>
                  <a:srgbClr val="5B6B76"/>
                </a:solidFill>
                <a:latin typeface="Calibri"/>
              </a:defRPr>
            </a:pPr>
            <a:r>
              <a:t>• Store metadata: type, assortment and competition</a:t>
            </a:r>
          </a:p>
          <a:p>
            <a:pPr>
              <a:spcAft>
                <a:spcPts val="600"/>
              </a:spcAft>
              <a:defRPr sz="1200">
                <a:solidFill>
                  <a:srgbClr val="5B6B76"/>
                </a:solidFill>
                <a:latin typeface="Calibri"/>
              </a:defRPr>
            </a:pPr>
            <a:r>
              <a:t>• Promotion, holiday and calendar information</a:t>
            </a:r>
          </a:p>
          <a:p>
            <a:pPr>
              <a:spcAft>
                <a:spcPts val="600"/>
              </a:spcAft>
              <a:defRPr sz="1200">
                <a:solidFill>
                  <a:srgbClr val="5B6B76"/>
                </a:solidFill>
                <a:latin typeface="Calibri"/>
              </a:defRPr>
            </a:pPr>
            <a:r>
              <a:t>• Customer counts used as a behavioural signal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2971800"/>
            <a:ext cx="4800600" cy="2560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0" y="3218688"/>
            <a:ext cx="18288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ANALYSIS GRAIN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611880"/>
            <a:ext cx="40233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6"/>
                </a:solidFill>
                <a:latin typeface="Calibri"/>
              </a:rPr>
              <a:t>Two complementary grains were used: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041648"/>
            <a:ext cx="16459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2430"/>
                </a:solidFill>
                <a:latin typeface="Cambria"/>
              </a:rPr>
              <a:t>STORE-DAY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7612" y="4041649"/>
            <a:ext cx="244275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5B6B76"/>
                </a:solidFill>
                <a:latin typeface="Calibri"/>
              </a:rPr>
              <a:t>Production </a:t>
            </a:r>
            <a:r>
              <a:rPr sz="1100" b="0" i="0" dirty="0" err="1">
                <a:solidFill>
                  <a:srgbClr val="5B6B76"/>
                </a:solidFill>
                <a:latin typeface="Calibri"/>
              </a:rPr>
              <a:t>LightGBM</a:t>
            </a:r>
            <a:endParaRPr sz="1100" b="0" i="0" dirty="0">
              <a:solidFill>
                <a:srgbClr val="5B6B76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43600" y="4526280"/>
            <a:ext cx="16459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C7293"/>
                </a:solidFill>
                <a:latin typeface="Cambria"/>
              </a:rPr>
              <a:t>AGGREGATE-DAY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7612" y="4526280"/>
            <a:ext cx="23774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5B6B76"/>
                </a:solidFill>
                <a:latin typeface="Calibri"/>
              </a:rPr>
              <a:t>ARIMA / SARIMA / LSTM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6510528"/>
            <a:ext cx="3200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B6B7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43891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932688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E2430"/>
                </a:solidFill>
                <a:latin typeface="Cambria"/>
              </a:rPr>
              <a:t>Cleaning, Leakage Control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38328"/>
            <a:ext cx="3200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76"/>
                </a:solidFill>
                <a:latin typeface="Calibri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33756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58952" y="1581912"/>
            <a:ext cx="438912" cy="43891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604772"/>
            <a:ext cx="43891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554480"/>
            <a:ext cx="242316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430"/>
                </a:solidFill>
                <a:latin typeface="Cambria"/>
              </a:rPr>
              <a:t>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993392"/>
            <a:ext cx="2182803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B6B76"/>
                </a:solidFill>
                <a:latin typeface="Calibri"/>
              </a:rPr>
              <a:t>Closed-store rows are handled separately; missing store attributes are treated explicitly.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417320"/>
            <a:ext cx="333756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233672" y="1581912"/>
            <a:ext cx="438912" cy="43891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33672" y="1604772"/>
            <a:ext cx="43891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1554480"/>
            <a:ext cx="242316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430"/>
                </a:solidFill>
                <a:latin typeface="Cambria"/>
              </a:rPr>
              <a:t>Calendarize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1993392"/>
            <a:ext cx="2207063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5B6B76"/>
                </a:solidFill>
                <a:latin typeface="Calibri"/>
              </a:rPr>
              <a:t>Year, month, day, week-of-year, weekend and month-period features.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417320"/>
            <a:ext cx="333756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08392" y="1581912"/>
            <a:ext cx="438912" cy="43891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08392" y="1604772"/>
            <a:ext cx="43891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554480"/>
            <a:ext cx="242316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430"/>
                </a:solidFill>
                <a:latin typeface="Cambria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993392"/>
            <a:ext cx="2313432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5B6B76"/>
                </a:solidFill>
                <a:latin typeface="Calibri"/>
              </a:rPr>
              <a:t>Holiday proximity, competition-open duration and promotion tenure.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246120"/>
            <a:ext cx="10287000" cy="2377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52044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LEAK-SAFE STORE TARGET ENCODING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931920"/>
            <a:ext cx="9326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 err="1">
                <a:solidFill>
                  <a:srgbClr val="1E2430"/>
                </a:solidFill>
                <a:latin typeface="Cambria"/>
              </a:rPr>
              <a:t>StoreTargetEnc</a:t>
            </a:r>
            <a:r>
              <a:rPr sz="1800" b="1" i="0" dirty="0">
                <a:solidFill>
                  <a:srgbClr val="1E2430"/>
                </a:solidFill>
                <a:latin typeface="Cambria"/>
              </a:rPr>
              <a:t> replaces the raw integer store ID with a smoothed historical sales level calculated from the training split only.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72000"/>
            <a:ext cx="9326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5B6B76"/>
                </a:solidFill>
                <a:latin typeface="Calibri"/>
              </a:defRPr>
            </a:pPr>
            <a:r>
              <a:t>• Training-only statistics prevent future information from entering validation.</a:t>
            </a:r>
          </a:p>
          <a:p>
            <a:pPr>
              <a:spcAft>
                <a:spcPts val="600"/>
              </a:spcAft>
              <a:defRPr sz="1100">
                <a:solidFill>
                  <a:srgbClr val="5B6B76"/>
                </a:solidFill>
                <a:latin typeface="Calibri"/>
              </a:defRPr>
            </a:pPr>
            <a:r>
              <a:t>• Global mean fallback handles unseen stores safely.</a:t>
            </a:r>
          </a:p>
          <a:p>
            <a:pPr>
              <a:spcAft>
                <a:spcPts val="600"/>
              </a:spcAft>
              <a:defRPr sz="1100">
                <a:solidFill>
                  <a:srgbClr val="5B6B76"/>
                </a:solidFill>
                <a:latin typeface="Calibri"/>
              </a:defRPr>
            </a:pPr>
            <a:r>
              <a:t>• The resulting encoding becomes one of the strongest LightGBM features.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6510528"/>
            <a:ext cx="3200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B6B7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43891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EDA · DEMAND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932688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E2430"/>
                </a:solidFill>
                <a:latin typeface="Cambria"/>
              </a:rPr>
              <a:t>Promotion and Customer Traffic Move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38328"/>
            <a:ext cx="3200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76"/>
                </a:solidFill>
                <a:latin typeface="Calibri"/>
              </a:rPr>
              <a:t>6</a:t>
            </a:r>
          </a:p>
        </p:txBody>
      </p:sp>
      <p:pic>
        <p:nvPicPr>
          <p:cNvPr id="5" name="Picture 4" descr="promo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81328"/>
            <a:ext cx="5074920" cy="2651760"/>
          </a:xfrm>
          <a:prstGeom prst="rect">
            <a:avLst/>
          </a:prstGeom>
        </p:spPr>
      </p:pic>
      <p:pic>
        <p:nvPicPr>
          <p:cNvPr id="6" name="Picture 5" descr="promo_custom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481328"/>
            <a:ext cx="5074920" cy="2651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4526280"/>
            <a:ext cx="2560320" cy="1097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4663440"/>
            <a:ext cx="2340864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1C7293"/>
                </a:solidFill>
                <a:latin typeface="Cambria"/>
              </a:rPr>
              <a:t>0.824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5120640"/>
            <a:ext cx="2340864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B6B76"/>
                </a:solidFill>
                <a:latin typeface="Calibri"/>
              </a:rPr>
              <a:t>SALES–CUSTOMERS CORRELATION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4526280"/>
            <a:ext cx="2560320" cy="1097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75888" y="4663440"/>
            <a:ext cx="2340864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065A82"/>
                </a:solidFill>
                <a:latin typeface="Cambria"/>
              </a:rPr>
              <a:t>+38.6%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5120640"/>
            <a:ext cx="2340864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B6B76"/>
                </a:solidFill>
                <a:latin typeface="Calibri"/>
              </a:rPr>
              <a:t>SALES: PROMO VS NO PROMO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26280"/>
            <a:ext cx="2560320" cy="1097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8" y="4663440"/>
            <a:ext cx="2340864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1C7293"/>
                </a:solidFill>
                <a:latin typeface="Cambria"/>
              </a:rPr>
              <a:t>+21.2%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5120640"/>
            <a:ext cx="2340864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B6B76"/>
                </a:solidFill>
                <a:latin typeface="Calibri"/>
              </a:rPr>
              <a:t>CUSTOMERS: PROMO VS NO PROMO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4526280"/>
            <a:ext cx="1737360" cy="1097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53728" y="4663440"/>
            <a:ext cx="1517904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065A82"/>
                </a:solidFill>
                <a:latin typeface="Cambria"/>
              </a:rPr>
              <a:t>144.9%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3728" y="5120640"/>
            <a:ext cx="1517904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B6B76"/>
                </a:solidFill>
                <a:latin typeface="Calibri"/>
              </a:rPr>
              <a:t>TOP STORE PROMO UPLIFT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925312"/>
            <a:ext cx="1014984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B6B76"/>
                </a:solidFill>
                <a:latin typeface="Calibri"/>
              </a:rPr>
              <a:t>Insight: promotion is associated with higher traffic and higher sales, but the magnitude varies substantially by store.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10528"/>
            <a:ext cx="3200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B6B7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43891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EDA · STORE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932688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E2430"/>
                </a:solidFill>
                <a:latin typeface="Cambria"/>
              </a:rPr>
              <a:t>Assortment and Competition Are Contextual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38328"/>
            <a:ext cx="3200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76"/>
                </a:solidFill>
                <a:latin typeface="Calibri"/>
              </a:rPr>
              <a:t>7</a:t>
            </a:r>
          </a:p>
        </p:txBody>
      </p:sp>
      <p:pic>
        <p:nvPicPr>
          <p:cNvPr id="5" name="Picture 4" descr="assor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074920" cy="2834640"/>
          </a:xfrm>
          <a:prstGeom prst="rect">
            <a:avLst/>
          </a:prstGeom>
        </p:spPr>
      </p:pic>
      <p:pic>
        <p:nvPicPr>
          <p:cNvPr id="6" name="Picture 5" descr="compet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417320"/>
            <a:ext cx="5074920" cy="2834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4610253"/>
            <a:ext cx="10469880" cy="141096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736592"/>
            <a:ext cx="10972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alibri"/>
              </a:rPr>
              <a:t>ASSORTMENT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617720"/>
            <a:ext cx="3629608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5B6B76"/>
                </a:solidFill>
                <a:latin typeface="Calibri"/>
              </a:rPr>
              <a:t>Extra stores average the highest sales (8,639), but the group is small — treat as directional.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4736592"/>
            <a:ext cx="12801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dirty="0">
                <a:solidFill>
                  <a:srgbClr val="1C7293"/>
                </a:solidFill>
                <a:latin typeface="Calibri"/>
              </a:rPr>
              <a:t>COMPETITION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4617720"/>
            <a:ext cx="3290907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5B6B76"/>
                </a:solidFill>
                <a:latin typeface="Calibri"/>
              </a:rPr>
              <a:t>Distance is non-monotonic; locality and footfall likely interact with competition.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59552"/>
            <a:ext cx="933901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500" b="1" i="0" dirty="0">
                <a:solidFill>
                  <a:srgbClr val="1E2430"/>
                </a:solidFill>
                <a:latin typeface="Cambria"/>
              </a:rPr>
              <a:t>    </a:t>
            </a:r>
            <a:r>
              <a:rPr sz="1500" b="1" i="0" dirty="0">
                <a:solidFill>
                  <a:srgbClr val="1E2430"/>
                </a:solidFill>
                <a:latin typeface="Cambria"/>
              </a:rPr>
              <a:t>Commercial implication: avoid one-variable rules. Combine store format, historical demand, promotions and local context.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10528"/>
            <a:ext cx="3200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B6B7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43891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EDA · TIME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932688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E2430"/>
                </a:solidFill>
                <a:latin typeface="Cambria"/>
              </a:rPr>
              <a:t>Weekly Seasonality Is the Dominant Temporal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38328"/>
            <a:ext cx="3200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76"/>
                </a:solidFill>
                <a:latin typeface="Calibri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657600" cy="4343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19072"/>
            <a:ext cx="21945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AGGREGATE TIME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480901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E2430"/>
                </a:solidFill>
                <a:latin typeface="Cambria"/>
              </a:rPr>
              <a:t>942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20116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6"/>
                </a:solidFill>
                <a:latin typeface="Calibri"/>
              </a:rPr>
              <a:t>daily 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82112"/>
            <a:ext cx="9144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  <a:latin typeface="Calibri"/>
              </a:rPr>
              <a:t>ADF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93008"/>
            <a:ext cx="192024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E2430"/>
                </a:solidFill>
                <a:latin typeface="Cambria"/>
              </a:rPr>
              <a:t>−5.4154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04487"/>
            <a:ext cx="26517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6"/>
                </a:solidFill>
                <a:latin typeface="Calibri"/>
              </a:rPr>
              <a:t>p = 0.0000 → stationary raw series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80560"/>
            <a:ext cx="13716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ACF / PACF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846320"/>
            <a:ext cx="2583647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E2430"/>
                </a:solidFill>
                <a:latin typeface="Cambria"/>
              </a:rPr>
              <a:t>Strong lag-7 pattern → weekly seasonality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417320"/>
            <a:ext cx="6537960" cy="4343400"/>
          </a:xfrm>
          <a:prstGeom prst="roundRect">
            <a:avLst/>
          </a:prstGeom>
          <a:solidFill>
            <a:srgbClr val="F7FAFC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0" y="1719072"/>
            <a:ext cx="41148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WHY THIS MATTERS FOR MODELING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2148840"/>
            <a:ext cx="57150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010912" y="2313432"/>
            <a:ext cx="438912" cy="43891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10912" y="2336292"/>
            <a:ext cx="43891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96128" y="2286000"/>
            <a:ext cx="48006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430"/>
                </a:solidFill>
                <a:latin typeface="Cambria"/>
              </a:rPr>
              <a:t>ARIMA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96128" y="2724912"/>
            <a:ext cx="48006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B6B76"/>
                </a:solidFill>
                <a:latin typeface="Calibri"/>
              </a:rPr>
              <a:t>Baseline linear dynamics; no explicit weekly seasonal term.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3127248"/>
            <a:ext cx="57150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010912" y="3291840"/>
            <a:ext cx="438912" cy="43891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10912" y="3314700"/>
            <a:ext cx="43891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96128" y="3264408"/>
            <a:ext cx="48006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430"/>
                </a:solidFill>
                <a:latin typeface="Cambria"/>
              </a:rPr>
              <a:t>SARIMA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6128" y="3703320"/>
            <a:ext cx="48006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B6B76"/>
                </a:solidFill>
                <a:latin typeface="Calibri"/>
              </a:rPr>
              <a:t>Adds a weekly seasonal component (period 7).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4105656"/>
            <a:ext cx="57150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010912" y="4270248"/>
            <a:ext cx="438912" cy="43891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10912" y="4293108"/>
            <a:ext cx="43891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96128" y="4242816"/>
            <a:ext cx="48006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430"/>
                </a:solidFill>
                <a:latin typeface="Cambria"/>
              </a:rPr>
              <a:t>LSTM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6128" y="4681728"/>
            <a:ext cx="48006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B6B76"/>
                </a:solidFill>
                <a:latin typeface="Calibri"/>
              </a:rPr>
              <a:t>Learns sequence structure directly from the previous 14 days.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6510528"/>
            <a:ext cx="3200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B6B7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43891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932688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E2430"/>
                </a:solidFill>
                <a:latin typeface="Cambria"/>
              </a:rPr>
              <a:t>Baseline Random Forest → LightGBM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38328"/>
            <a:ext cx="3200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76"/>
                </a:solidFill>
                <a:latin typeface="Calibri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4892040" cy="4343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2860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V1 · RANDOM FOREST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48840"/>
            <a:ext cx="1828800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2286000"/>
            <a:ext cx="1609344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065A82"/>
                </a:solidFill>
                <a:latin typeface="Cambria"/>
              </a:rPr>
              <a:t>0.343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743200"/>
            <a:ext cx="1609344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B6B76"/>
                </a:solidFill>
                <a:latin typeface="Calibri"/>
              </a:rPr>
              <a:t>RMSPE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2148840"/>
            <a:ext cx="1828800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90088" y="2286000"/>
            <a:ext cx="1609344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1C7293"/>
                </a:solidFill>
                <a:latin typeface="Cambria"/>
              </a:rPr>
              <a:t>1,523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2743200"/>
            <a:ext cx="1609344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B6B76"/>
                </a:solidFill>
                <a:latin typeface="Calibri"/>
              </a:rPr>
              <a:t>MAE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74720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5B6B76"/>
                </a:solidFill>
                <a:latin typeface="Calibri"/>
              </a:defRPr>
            </a:pPr>
            <a:r>
              <a:t>• Pipeline-based preprocessing</a:t>
            </a:r>
          </a:p>
          <a:p>
            <a:pPr>
              <a:spcAft>
                <a:spcPts val="600"/>
              </a:spcAft>
              <a:defRPr sz="1100">
                <a:solidFill>
                  <a:srgbClr val="5B6B76"/>
                </a:solidFill>
                <a:latin typeface="Calibri"/>
              </a:defRPr>
            </a:pPr>
            <a:r>
              <a:t>• Tree ensemble baseline</a:t>
            </a:r>
          </a:p>
          <a:p>
            <a:pPr>
              <a:spcAft>
                <a:spcPts val="600"/>
              </a:spcAft>
              <a:defRPr sz="1100">
                <a:solidFill>
                  <a:srgbClr val="5B6B76"/>
                </a:solidFill>
                <a:latin typeface="Calibri"/>
              </a:defRPr>
            </a:pPr>
            <a:r>
              <a:t>• Time-based six-week validation</a:t>
            </a:r>
          </a:p>
          <a:p>
            <a:pPr>
              <a:spcAft>
                <a:spcPts val="600"/>
              </a:spcAft>
              <a:defRPr sz="1100">
                <a:solidFill>
                  <a:srgbClr val="5B6B76"/>
                </a:solidFill>
                <a:latin typeface="Calibri"/>
              </a:defRPr>
            </a:pPr>
            <a:r>
              <a:t>• Useful benchmark, but limited store representation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1417320"/>
            <a:ext cx="5349240" cy="4343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89320" y="1737360"/>
            <a:ext cx="22860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  <a:latin typeface="Calibri"/>
              </a:rPr>
              <a:t>V2 · LIGHTGBM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2148840"/>
            <a:ext cx="1828800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99048" y="2286000"/>
            <a:ext cx="1609344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1C7293"/>
                </a:solidFill>
                <a:latin typeface="Cambria"/>
              </a:rPr>
              <a:t>0.131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2743200"/>
            <a:ext cx="1609344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B6B76"/>
                </a:solidFill>
                <a:latin typeface="Calibri"/>
              </a:rPr>
              <a:t>RMSPE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2148840"/>
            <a:ext cx="1828800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10728" y="2286000"/>
            <a:ext cx="1609344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065A82"/>
                </a:solidFill>
                <a:latin typeface="Cambria"/>
              </a:rPr>
              <a:t>614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0728" y="2743200"/>
            <a:ext cx="1609344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B6B76"/>
                </a:solidFill>
                <a:latin typeface="Calibri"/>
              </a:rPr>
              <a:t>MAE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47472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5B6B76"/>
                </a:solidFill>
                <a:latin typeface="Calibri"/>
              </a:defRPr>
            </a:pPr>
            <a:r>
              <a:t>• Leak-safe smoothed StoreTargetEnc</a:t>
            </a:r>
          </a:p>
          <a:p>
            <a:pPr>
              <a:spcAft>
                <a:spcPts val="600"/>
              </a:spcAft>
              <a:defRPr sz="1100">
                <a:solidFill>
                  <a:srgbClr val="5B6B76"/>
                </a:solidFill>
                <a:latin typeface="Calibri"/>
              </a:defRPr>
            </a:pPr>
            <a:r>
              <a:t>• Calendar + promo + holiday + competition features</a:t>
            </a:r>
          </a:p>
          <a:p>
            <a:pPr>
              <a:spcAft>
                <a:spcPts val="600"/>
              </a:spcAft>
              <a:defRPr sz="1100">
                <a:solidFill>
                  <a:srgbClr val="5B6B76"/>
                </a:solidFill>
                <a:latin typeface="Calibri"/>
              </a:defRPr>
            </a:pPr>
            <a:r>
              <a:t>• R² = 0.915</a:t>
            </a:r>
          </a:p>
          <a:p>
            <a:pPr>
              <a:spcAft>
                <a:spcPts val="600"/>
              </a:spcAft>
              <a:defRPr sz="1100">
                <a:solidFill>
                  <a:srgbClr val="5B6B76"/>
                </a:solidFill>
                <a:latin typeface="Calibri"/>
              </a:defRPr>
            </a:pPr>
            <a:r>
              <a:t>• 62% RMSPE reduction vs Random Forest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61888"/>
            <a:ext cx="101498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E2430"/>
                </a:solidFill>
                <a:latin typeface="Cambria"/>
              </a:rPr>
              <a:t>Takeaway: feature representation mattered as much as model complexity.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6510528"/>
            <a:ext cx="3200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B6B7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43891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LIGHTGBM · 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932688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E2430"/>
                </a:solidFill>
                <a:latin typeface="Cambria"/>
              </a:rPr>
              <a:t>What the Production Model Learns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91624" y="338328"/>
            <a:ext cx="115416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 i="0" dirty="0">
                <a:solidFill>
                  <a:srgbClr val="5B6B76"/>
                </a:solidFill>
                <a:latin typeface="Calibri"/>
              </a:rPr>
              <a:t>1</a:t>
            </a:r>
            <a:r>
              <a:rPr lang="en-US" sz="900" b="0" i="0" dirty="0">
                <a:solidFill>
                  <a:srgbClr val="5B6B76"/>
                </a:solidFill>
                <a:latin typeface="Calibri"/>
              </a:rPr>
              <a:t>0</a:t>
            </a:r>
            <a:endParaRPr sz="900" b="0" i="0" dirty="0">
              <a:solidFill>
                <a:srgbClr val="5B6B76"/>
              </a:solidFill>
              <a:latin typeface="Calibri"/>
            </a:endParaRPr>
          </a:p>
        </p:txBody>
      </p:sp>
      <p:pic>
        <p:nvPicPr>
          <p:cNvPr id="5" name="Picture 4" descr="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53312"/>
            <a:ext cx="6492240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398658"/>
            <a:ext cx="3749039" cy="4160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0" y="1737360"/>
            <a:ext cx="18288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TOP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"/>
            <a:ext cx="54502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dirty="0">
                <a:solidFill>
                  <a:srgbClr val="5B6B76"/>
                </a:solidFill>
                <a:latin typeface="Calibri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011680"/>
            <a:ext cx="3017519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model confirms the EDA: historical store </a:t>
            </a:r>
            <a:r>
              <a:rPr sz="1400" b="1" i="1" dirty="0" err="1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behaviour</a:t>
            </a:r>
            <a:r>
              <a:rPr sz="1400" b="1" i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weekly timing are the strongest predictive signals.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6510528"/>
            <a:ext cx="3200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B6B7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43891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932688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E2430"/>
                </a:solidFill>
                <a:latin typeface="Cambria"/>
              </a:rPr>
              <a:t>Why an LSTM Was Added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38328"/>
            <a:ext cx="3200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76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15976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5B6B76"/>
                </a:solidFill>
                <a:latin typeface="Calibri"/>
              </a:rPr>
              <a:t>The LSTM experiment isolates aggregate daily sales per open store so that sequence learning can be compared fairly with ARIMA and SARIMA on the same six-week validation horizon.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331720"/>
            <a:ext cx="3291840" cy="1325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58952" y="2496312"/>
            <a:ext cx="438912" cy="43891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519172"/>
            <a:ext cx="43891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468880"/>
            <a:ext cx="237744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430"/>
                </a:solidFill>
                <a:latin typeface="Cambria"/>
              </a:rPr>
              <a:t>Sequence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907792"/>
            <a:ext cx="2108159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5B6B76"/>
                </a:solidFill>
                <a:latin typeface="Calibri"/>
              </a:rPr>
              <a:t>Previous 14 daily values become one supervised input window.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331720"/>
            <a:ext cx="3291840" cy="1325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187952" y="2496312"/>
            <a:ext cx="438912" cy="43891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87952" y="2519172"/>
            <a:ext cx="43891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468880"/>
            <a:ext cx="237744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430"/>
                </a:solidFill>
                <a:latin typeface="Cambria"/>
              </a:rPr>
              <a:t>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907792"/>
            <a:ext cx="237744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5B6B76"/>
                </a:solidFill>
                <a:latin typeface="Calibri"/>
              </a:rPr>
              <a:t>Min–max scaling to (−1, 1), fitted on training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2331720"/>
            <a:ext cx="3291840" cy="1325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616952" y="2496312"/>
            <a:ext cx="438912" cy="43891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16952" y="2519172"/>
            <a:ext cx="43891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468880"/>
            <a:ext cx="237744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430"/>
                </a:solidFill>
                <a:latin typeface="Cambria"/>
              </a:rPr>
              <a:t>Learn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2907792"/>
            <a:ext cx="2238787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5B6B76"/>
                </a:solidFill>
                <a:latin typeface="Calibri"/>
              </a:rPr>
              <a:t>Two recurrent layers learn temporal dependencies and weekly structure.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069080"/>
            <a:ext cx="10149840" cy="1508760"/>
          </a:xfrm>
          <a:prstGeom prst="roundRect">
            <a:avLst/>
          </a:prstGeom>
          <a:solidFill>
            <a:srgbClr val="EAF4F8"/>
          </a:solidFill>
          <a:ln w="8890">
            <a:solidFill>
              <a:srgbClr val="B7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343400"/>
            <a:ext cx="22860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DEEP LEARNING HYPOTHESIS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709160"/>
            <a:ext cx="9025128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 dirty="0">
                <a:solidFill>
                  <a:srgbClr val="1E2430"/>
                </a:solidFill>
                <a:latin typeface="Cambria"/>
              </a:rPr>
              <a:t>A 14-day memory should contain enough information to learn the dominant 7-day retail cycle without manually specifying a seasonal term.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6510528"/>
            <a:ext cx="3200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B6B7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43891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DEEP LEARNING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932688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E2430"/>
                </a:solidFill>
                <a:latin typeface="Cambria"/>
              </a:rPr>
              <a:t>2-Layer LSTM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38328"/>
            <a:ext cx="3200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76"/>
                </a:solidFill>
                <a:latin typeface="Calibri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182880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16459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065A82"/>
                </a:solidFill>
                <a:latin typeface="Cambria"/>
              </a:rPr>
              <a:t>14-DAY
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07792"/>
            <a:ext cx="16459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B6B76"/>
                </a:solidFill>
                <a:latin typeface="Calibri"/>
              </a:rPr>
              <a:t>Input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69464" y="2496312"/>
            <a:ext cx="246888" cy="384048"/>
          </a:xfrm>
          <a:prstGeom prst="rightArrow">
            <a:avLst/>
          </a:prstGeom>
          <a:solidFill>
            <a:srgbClr val="89C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834640" y="2011680"/>
            <a:ext cx="182880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0" y="2240280"/>
            <a:ext cx="16459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065A82"/>
                </a:solidFill>
                <a:latin typeface="Cambria"/>
              </a:rPr>
              <a:t>LSTM
32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907792"/>
            <a:ext cx="16459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B6B76"/>
                </a:solidFill>
                <a:latin typeface="Calibri"/>
              </a:rPr>
              <a:t>Recurrent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18304" y="2496312"/>
            <a:ext cx="246888" cy="384048"/>
          </a:xfrm>
          <a:prstGeom prst="rightArrow">
            <a:avLst/>
          </a:prstGeom>
          <a:solidFill>
            <a:srgbClr val="89C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983480" y="2011680"/>
            <a:ext cx="182880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4920" y="2240280"/>
            <a:ext cx="16459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1C7293"/>
                </a:solidFill>
                <a:latin typeface="Cambria"/>
              </a:rPr>
              <a:t>LSTM
32 UNITS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907792"/>
            <a:ext cx="16459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B6B76"/>
                </a:solidFill>
                <a:latin typeface="Calibri"/>
              </a:rPr>
              <a:t>Recurrent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867144" y="2496312"/>
            <a:ext cx="246888" cy="384048"/>
          </a:xfrm>
          <a:prstGeom prst="rightArrow">
            <a:avLst/>
          </a:prstGeom>
          <a:solidFill>
            <a:srgbClr val="89C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132320" y="2011680"/>
            <a:ext cx="146304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23760" y="2240280"/>
            <a:ext cx="128016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1C7293"/>
                </a:solidFill>
                <a:latin typeface="Cambria"/>
              </a:rPr>
              <a:t>DENSE
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907792"/>
            <a:ext cx="12801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B6B76"/>
                </a:solidFill>
                <a:latin typeface="Calibri"/>
              </a:rPr>
              <a:t>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160520"/>
            <a:ext cx="233172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4128" y="4297680"/>
            <a:ext cx="2112264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065A82"/>
                </a:solidFill>
                <a:latin typeface="Cambria"/>
              </a:rPr>
              <a:t>12,705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4754880"/>
            <a:ext cx="2112264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B6B76"/>
                </a:solidFill>
                <a:latin typeface="Calibri"/>
              </a:rPr>
              <a:t>TRAINABLE PARAMETERS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4160520"/>
            <a:ext cx="233172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30168" y="4297680"/>
            <a:ext cx="2112264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1C7293"/>
                </a:solidFill>
                <a:latin typeface="Cambria"/>
              </a:rPr>
              <a:t>Adam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0168" y="4754880"/>
            <a:ext cx="2112264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B6B76"/>
                </a:solidFill>
                <a:latin typeface="Calibri"/>
              </a:rPr>
              <a:t>OPTIMIZER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4160520"/>
            <a:ext cx="233172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36208" y="4297680"/>
            <a:ext cx="2112264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065A82"/>
                </a:solidFill>
                <a:latin typeface="Cambria"/>
              </a:rPr>
              <a:t>MSE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4754880"/>
            <a:ext cx="2112264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B6B76"/>
                </a:solidFill>
                <a:latin typeface="Calibri"/>
              </a:rPr>
              <a:t>LOSS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32520" y="4160520"/>
            <a:ext cx="233172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42248" y="4297680"/>
            <a:ext cx="2112264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1C7293"/>
                </a:solidFill>
                <a:latin typeface="Cambria"/>
              </a:rPr>
              <a:t>79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42248" y="4754880"/>
            <a:ext cx="2112264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B6B76"/>
                </a:solidFill>
                <a:latin typeface="Calibri"/>
              </a:rPr>
              <a:t>RECORDED EPOCHS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742432"/>
            <a:ext cx="10058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B6B76"/>
                </a:solidFill>
                <a:latin typeface="Calibri"/>
              </a:rPr>
              <a:t>Early stopping: patience = 8  ·  maximum 80 epochs  ·  batch size = 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6510528"/>
            <a:ext cx="3200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B6B7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43891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932688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E2430"/>
                </a:solidFill>
                <a:latin typeface="Cambria"/>
              </a:rPr>
              <a:t>Deep Learning Wins the Aggregate Time-Series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38328"/>
            <a:ext cx="3200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76"/>
                </a:solidFill>
                <a:latin typeface="Calibri"/>
              </a:rPr>
              <a:t>13</a:t>
            </a:r>
          </a:p>
        </p:txBody>
      </p:sp>
      <p:pic>
        <p:nvPicPr>
          <p:cNvPr id="5" name="Picture 4" descr="model_rms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5486400" cy="4023360"/>
          </a:xfrm>
          <a:prstGeom prst="rect">
            <a:avLst/>
          </a:prstGeom>
        </p:spPr>
      </p:pic>
      <p:pic>
        <p:nvPicPr>
          <p:cNvPr id="6" name="Picture 5" descr="model_m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4892040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5577840"/>
            <a:ext cx="10058400" cy="658368"/>
          </a:xfrm>
          <a:prstGeom prst="roundRect">
            <a:avLst/>
          </a:prstGeom>
          <a:solidFill>
            <a:srgbClr val="EAF4F8"/>
          </a:solidFill>
          <a:ln w="8890">
            <a:solidFill>
              <a:srgbClr val="B7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5751576"/>
            <a:ext cx="97840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065A82"/>
                </a:solidFill>
                <a:latin typeface="Calibri"/>
              </a:rPr>
              <a:t>LSTM: 0.1041 RMSPE / 577.3 MAE  → best aggregate result.  SARIMA: 0.1600 / 885.8  ·  ARIMA: 0.2125 / 1322.0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0" y="6510528"/>
            <a:ext cx="3200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B6B7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43891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MODEL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932688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E2430"/>
                </a:solidFill>
                <a:latin typeface="Cambria"/>
              </a:rPr>
              <a:t>LSTM Is the Best Aggregate Model; LightGBM Is the Production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38328"/>
            <a:ext cx="3200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76"/>
                </a:solidFill>
                <a:latin typeface="Calibri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4892040" cy="4251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972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065A82"/>
                </a:solidFill>
                <a:latin typeface="Cambria"/>
              </a:rPr>
              <a:t>LSTM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34747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B6B76"/>
                </a:solidFill>
                <a:latin typeface="Calibri"/>
              </a:rPr>
              <a:t>Best for aggregate demand dynamics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4069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5B6B76"/>
                </a:solidFill>
                <a:latin typeface="Calibri"/>
              </a:defRPr>
            </a:pPr>
            <a:r>
              <a:t>• Lowest aggregate RMSPE</a:t>
            </a:r>
          </a:p>
          <a:p>
            <a:pPr>
              <a:spcAft>
                <a:spcPts val="600"/>
              </a:spcAft>
              <a:defRPr sz="1150">
                <a:solidFill>
                  <a:srgbClr val="5B6B76"/>
                </a:solidFill>
                <a:latin typeface="Calibri"/>
              </a:defRPr>
            </a:pPr>
            <a:r>
              <a:t>• Learns weekly pattern from raw sequence windows</a:t>
            </a:r>
          </a:p>
          <a:p>
            <a:pPr>
              <a:spcAft>
                <a:spcPts val="600"/>
              </a:spcAft>
              <a:defRPr sz="1150">
                <a:solidFill>
                  <a:srgbClr val="5B6B76"/>
                </a:solidFill>
                <a:latin typeface="Calibri"/>
              </a:defRPr>
            </a:pPr>
            <a:r>
              <a:t>• Useful for macro demand, capacity and inventory planning</a:t>
            </a:r>
          </a:p>
          <a:p>
            <a:pPr>
              <a:spcAft>
                <a:spcPts val="600"/>
              </a:spcAft>
              <a:defRPr sz="1150">
                <a:solidFill>
                  <a:srgbClr val="5B6B76"/>
                </a:solidFill>
                <a:latin typeface="Calibri"/>
              </a:defRPr>
            </a:pPr>
            <a:r>
              <a:t>• Not a direct per-store operational forecast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417320"/>
            <a:ext cx="5257800" cy="4251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0760" y="1737360"/>
            <a:ext cx="16459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1C7293"/>
                </a:solidFill>
                <a:latin typeface="Cambria"/>
              </a:rPr>
              <a:t>LIGHTGBM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148840"/>
            <a:ext cx="34747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B6B76"/>
                </a:solidFill>
                <a:latin typeface="Calibri"/>
              </a:rPr>
              <a:t>Recommended for production serving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6974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5B6B76"/>
                </a:solidFill>
                <a:latin typeface="Calibri"/>
              </a:defRPr>
            </a:pPr>
            <a:r>
              <a:t>• Per-store, per-day prediction</a:t>
            </a:r>
          </a:p>
          <a:p>
            <a:pPr>
              <a:spcAft>
                <a:spcPts val="600"/>
              </a:spcAft>
              <a:defRPr sz="1150">
                <a:solidFill>
                  <a:srgbClr val="5B6B76"/>
                </a:solidFill>
                <a:latin typeface="Calibri"/>
              </a:defRPr>
            </a:pPr>
            <a:r>
              <a:t>• Uses store history + promo + holiday + competition context</a:t>
            </a:r>
          </a:p>
          <a:p>
            <a:pPr>
              <a:spcAft>
                <a:spcPts val="600"/>
              </a:spcAft>
              <a:defRPr sz="1150">
                <a:solidFill>
                  <a:srgbClr val="5B6B76"/>
                </a:solidFill>
                <a:latin typeface="Calibri"/>
              </a:defRPr>
            </a:pPr>
            <a:r>
              <a:t>• RMSPE 0.1313, MAE 614, R² 0.915</a:t>
            </a:r>
          </a:p>
          <a:p>
            <a:pPr>
              <a:spcAft>
                <a:spcPts val="600"/>
              </a:spcAft>
              <a:defRPr sz="1150">
                <a:solidFill>
                  <a:srgbClr val="5B6B76"/>
                </a:solidFill>
                <a:latin typeface="Calibri"/>
              </a:defRPr>
            </a:pPr>
            <a:r>
              <a:t>• Matches the manager-facing dashboard use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43600"/>
            <a:ext cx="101498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E2430"/>
                </a:solidFill>
                <a:latin typeface="Cambria"/>
              </a:rPr>
              <a:t>The correct decision is based on operational granularity, not only the lowest metric.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10528"/>
            <a:ext cx="3200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B6B7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43891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PREDICTION UNCERTAINTY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932688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E2430"/>
                </a:solidFill>
                <a:latin typeface="Cambria"/>
              </a:rPr>
              <a:t>From Point Forecasts to Prediction Bands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38328"/>
            <a:ext cx="3200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76"/>
                </a:solidFill>
                <a:latin typeface="Calibri"/>
              </a:rP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657600" cy="4343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PRODUCTION BUNDLE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21992"/>
            <a:ext cx="273293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E2430"/>
                </a:solidFill>
                <a:latin typeface="Cambria"/>
              </a:rPr>
              <a:t>90% prediction interval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417320"/>
            <a:ext cx="6537960" cy="4343400"/>
          </a:xfrm>
          <a:prstGeom prst="roundRect">
            <a:avLst/>
          </a:prstGeom>
          <a:solidFill>
            <a:srgbClr val="F7FAFC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0" y="1737360"/>
            <a:ext cx="22860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VALIDATION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331720"/>
            <a:ext cx="14630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Actual 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21992"/>
            <a:ext cx="18288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1E2430"/>
                </a:solidFill>
                <a:latin typeface="Cambria"/>
              </a:rPr>
              <a:t>13,995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063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Point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53512"/>
            <a:ext cx="18288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1C7293"/>
                </a:solidFill>
                <a:latin typeface="Cambria"/>
              </a:rPr>
              <a:t>12,222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794760"/>
            <a:ext cx="14630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P05 — P95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85032"/>
            <a:ext cx="32004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065A82"/>
                </a:solidFill>
                <a:latin typeface="Cambria"/>
              </a:rPr>
              <a:t>9,413 — 14,946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572000"/>
            <a:ext cx="14630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919472"/>
            <a:ext cx="5297805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E2430"/>
                </a:solidFill>
                <a:latin typeface="Cambria"/>
              </a:rPr>
              <a:t>Planning teams can size inventory, staffing and financial expectations against a plausible range rather than a single point estimate.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6510528"/>
            <a:ext cx="3200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B6B7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43891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2015"/>
            <a:ext cx="932688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E2430"/>
                </a:solidFill>
                <a:latin typeface="Cambria"/>
              </a:rPr>
              <a:t>Streamlit Turns the Model Into a Business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38328"/>
            <a:ext cx="3200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76"/>
                </a:solidFill>
                <a:latin typeface="Calibri"/>
              </a:rPr>
              <a:t>16</a:t>
            </a:r>
          </a:p>
        </p:txBody>
      </p:sp>
      <p:pic>
        <p:nvPicPr>
          <p:cNvPr id="5" name="Picture 4" descr="rossm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6583680" cy="4892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417320"/>
            <a:ext cx="3749039" cy="4754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0" y="1737360"/>
            <a:ext cx="23774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DASHBOARD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148840"/>
            <a:ext cx="3063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5B6B76"/>
                </a:solidFill>
                <a:latin typeface="Calibri"/>
              </a:defRPr>
            </a:pPr>
            <a:r>
              <a:t>• Select store and forecast date range</a:t>
            </a:r>
          </a:p>
          <a:p>
            <a:pPr>
              <a:spcAft>
                <a:spcPts val="600"/>
              </a:spcAft>
              <a:defRPr sz="1050">
                <a:solidFill>
                  <a:srgbClr val="5B6B76"/>
                </a:solidFill>
                <a:latin typeface="Calibri"/>
              </a:defRPr>
            </a:pPr>
            <a:r>
              <a:t>• Set promo / holiday / opening inputs</a:t>
            </a:r>
          </a:p>
          <a:p>
            <a:pPr>
              <a:spcAft>
                <a:spcPts val="600"/>
              </a:spcAft>
              <a:defRPr sz="1050">
                <a:solidFill>
                  <a:srgbClr val="5B6B76"/>
                </a:solidFill>
                <a:latin typeface="Calibri"/>
              </a:defRPr>
            </a:pPr>
            <a:r>
              <a:t>• Generate sales and customer forecasts</a:t>
            </a:r>
          </a:p>
          <a:p>
            <a:pPr>
              <a:spcAft>
                <a:spcPts val="600"/>
              </a:spcAft>
              <a:defRPr sz="1050">
                <a:solidFill>
                  <a:srgbClr val="5B6B76"/>
                </a:solidFill>
                <a:latin typeface="Calibri"/>
              </a:defRPr>
            </a:pPr>
            <a:r>
              <a:t>• Visualize predicted values</a:t>
            </a:r>
          </a:p>
          <a:p>
            <a:pPr>
              <a:spcAft>
                <a:spcPts val="600"/>
              </a:spcAft>
              <a:defRPr sz="1050">
                <a:solidFill>
                  <a:srgbClr val="5B6B76"/>
                </a:solidFill>
                <a:latin typeface="Calibri"/>
              </a:defRPr>
            </a:pPr>
            <a:r>
              <a:t>• Download CSV predictions</a:t>
            </a:r>
          </a:p>
          <a:p>
            <a:pPr>
              <a:spcAft>
                <a:spcPts val="600"/>
              </a:spcAft>
              <a:defRPr sz="1050">
                <a:solidFill>
                  <a:srgbClr val="5B6B76"/>
                </a:solidFill>
                <a:latin typeface="Calibri"/>
              </a:defRPr>
            </a:pPr>
            <a:r>
              <a:t>• Display validation RMSPE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4892040"/>
            <a:ext cx="8229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C7293"/>
                </a:solidFill>
                <a:latin typeface="Calibri"/>
              </a:rPr>
              <a:t>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4818888"/>
            <a:ext cx="214884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B6B76"/>
                </a:solidFill>
                <a:latin typeface="Calibri"/>
              </a:rPr>
              <a:t>github.com/shakya362/
rossmann_store_sales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5559552"/>
            <a:ext cx="8229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C7293"/>
                </a:solidFill>
                <a:latin typeface="Calibri"/>
              </a:rPr>
              <a:t>Live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5486400"/>
            <a:ext cx="224028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B6B76"/>
                </a:solidFill>
                <a:latin typeface="Calibri"/>
              </a:rPr>
              <a:t>rossmann-store-sales-forecast.
streamlit.app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10528"/>
            <a:ext cx="3200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B6B7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43891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932688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E2430"/>
                </a:solidFill>
                <a:latin typeface="Cambria"/>
              </a:rPr>
              <a:t>What the Project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38328"/>
            <a:ext cx="3200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76"/>
                </a:solidFill>
                <a:latin typeface="Calibri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246120" cy="4297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19072"/>
            <a:ext cx="5943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65A82"/>
                </a:solidFill>
                <a:latin typeface="Cambr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55648"/>
            <a:ext cx="17373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430"/>
                </a:solidFill>
                <a:latin typeface="Cambria"/>
              </a:rPr>
              <a:t>EDA →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5B6B76"/>
                </a:solidFill>
                <a:latin typeface="Calibri"/>
              </a:defRPr>
            </a:pPr>
            <a:r>
              <a:t>• Promo and customers matter</a:t>
            </a:r>
          </a:p>
          <a:p>
            <a:pPr>
              <a:spcAft>
                <a:spcPts val="600"/>
              </a:spcAft>
              <a:defRPr sz="1100">
                <a:solidFill>
                  <a:srgbClr val="5B6B76"/>
                </a:solidFill>
                <a:latin typeface="Calibri"/>
              </a:defRPr>
            </a:pPr>
            <a:r>
              <a:t>• Weekly seasonality is strong</a:t>
            </a:r>
          </a:p>
          <a:p>
            <a:pPr>
              <a:spcAft>
                <a:spcPts val="600"/>
              </a:spcAft>
              <a:defRPr sz="1100">
                <a:solidFill>
                  <a:srgbClr val="5B6B76"/>
                </a:solidFill>
                <a:latin typeface="Calibri"/>
              </a:defRPr>
            </a:pPr>
            <a:r>
              <a:t>• Store context is heterogeneous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69080"/>
            <a:ext cx="5943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C7293"/>
                </a:solidFill>
                <a:latin typeface="Cambr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4105656"/>
            <a:ext cx="19202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430"/>
                </a:solidFill>
                <a:latin typeface="Cambria"/>
              </a:rPr>
              <a:t>Modeling → Improvement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24688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B6B76"/>
                </a:solidFill>
                <a:latin typeface="Calibri"/>
              </a:rPr>
              <a:t>RF 0.343 → LightGBM 0.131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1417320"/>
            <a:ext cx="3246120" cy="4297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1719072"/>
            <a:ext cx="5943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65A82"/>
                </a:solidFill>
                <a:latin typeface="Cambr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1755648"/>
            <a:ext cx="2468879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E2430"/>
                </a:solidFill>
                <a:latin typeface="Cambria"/>
              </a:rPr>
              <a:t>Deep Learning → Sequence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8655" y="2514600"/>
            <a:ext cx="10088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2-layer LSTM
14-day memory
0.1041 RMSPE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886200"/>
            <a:ext cx="246888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B6B76"/>
                </a:solidFill>
                <a:latin typeface="Calibri"/>
              </a:rPr>
              <a:t>Best aggregate time-series benchmark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1417320"/>
            <a:ext cx="3520440" cy="4297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18120" y="1719072"/>
            <a:ext cx="5943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C7293"/>
                </a:solidFill>
                <a:latin typeface="Cambri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755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430"/>
                </a:solidFill>
                <a:latin typeface="Cambria"/>
              </a:rPr>
              <a:t>Production →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331720"/>
            <a:ext cx="2743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5B6B76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LightGBM</a:t>
            </a:r>
            <a:r>
              <a:rPr dirty="0"/>
              <a:t> serves store-day forecasts</a:t>
            </a:r>
          </a:p>
          <a:p>
            <a:pPr>
              <a:spcAft>
                <a:spcPts val="600"/>
              </a:spcAft>
              <a:defRPr sz="1100">
                <a:solidFill>
                  <a:srgbClr val="5B6B76"/>
                </a:solidFill>
                <a:latin typeface="Calibri"/>
              </a:defRPr>
            </a:pPr>
            <a:r>
              <a:rPr dirty="0"/>
              <a:t>• Quantile models add uncertainty</a:t>
            </a:r>
          </a:p>
          <a:p>
            <a:pPr>
              <a:spcAft>
                <a:spcPts val="600"/>
              </a:spcAft>
              <a:defRPr sz="1100">
                <a:solidFill>
                  <a:srgbClr val="5B6B76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Streamlit</a:t>
            </a:r>
            <a:r>
              <a:rPr dirty="0"/>
              <a:t> enables business 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160520"/>
            <a:ext cx="10058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alibri"/>
              </a:rPr>
              <a:t>NEXT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526280"/>
            <a:ext cx="2468880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dirty="0">
                <a:solidFill>
                  <a:srgbClr val="1E2430"/>
                </a:solidFill>
                <a:latin typeface="Cambria"/>
              </a:rPr>
              <a:t>Add lag/rolling store features · dedicated Customers model · hybrid </a:t>
            </a:r>
            <a:r>
              <a:rPr sz="1250" b="1" i="0" dirty="0" err="1">
                <a:solidFill>
                  <a:srgbClr val="1E2430"/>
                </a:solidFill>
                <a:latin typeface="Cambria"/>
              </a:rPr>
              <a:t>LightGBM</a:t>
            </a:r>
            <a:r>
              <a:rPr sz="1250" b="1" i="0" dirty="0">
                <a:solidFill>
                  <a:srgbClr val="1E2430"/>
                </a:solidFill>
                <a:latin typeface="Cambria"/>
              </a:rPr>
              <a:t> + LSTM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989320"/>
            <a:ext cx="10469880" cy="457200"/>
          </a:xfrm>
          <a:prstGeom prst="roundRect">
            <a:avLst/>
          </a:prstGeom>
          <a:solidFill>
            <a:srgbClr val="EAF4F8"/>
          </a:solidFill>
          <a:ln w="8890">
            <a:solidFill>
              <a:srgbClr val="B7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6108192"/>
            <a:ext cx="1014984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065A82"/>
                </a:solidFill>
                <a:latin typeface="Calibri"/>
              </a:rPr>
              <a:t>FINAL MESSAGE  ·  The project is strongest when deep learning and production ML are treated as complementary tools for different forecasting grains.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6510528"/>
            <a:ext cx="3200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B6B7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B1B4AF-2F9C-2FC6-381A-708BE586E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9" y="0"/>
            <a:ext cx="121939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843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1264</Words>
  <Application>Microsoft Office PowerPoint</Application>
  <PresentationFormat>Widescreen</PresentationFormat>
  <Paragraphs>279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ASHISH KUMAR</cp:lastModifiedBy>
  <cp:revision>11</cp:revision>
  <dcterms:created xsi:type="dcterms:W3CDTF">2026-08-10T18:10:15Z</dcterms:created>
  <dcterms:modified xsi:type="dcterms:W3CDTF">2026-09-15T18:11:44Z</dcterms:modified>
</cp:coreProperties>
</file>